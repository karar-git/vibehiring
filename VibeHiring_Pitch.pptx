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Oval 1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14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640080" y="457200"/>
            <a:ext cx="2011680" cy="365760"/>
          </a:xfrm>
          <a:prstGeom prst="roundRect">
            <a:avLst/>
          </a:prstGeom>
          <a:solidFill>
            <a:srgbClr val="1A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78BFA"/>
                </a:solidFill>
                <a:latin typeface="Calibri"/>
              </a:rPr>
              <a:t>FOUNDER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Calibri"/>
              </a:defRPr>
            </a:pPr>
            <a:r>
              <a:t>🎤  Meet the Founder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Karar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Calibri"/>
              </a:defRPr>
            </a:pPr>
            <a:r>
              <a:t>Founder &amp; Builder, VibeHiring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5029200" cy="1463040"/>
          </a:xfrm>
          <a:prstGeom prst="roundRect">
            <a:avLst/>
          </a:prstGeom>
          <a:solidFill>
            <a:srgbClr val="140E26"/>
          </a:solidFill>
          <a:ln w="12700">
            <a:solidFill>
              <a:srgbClr val="3F2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Make hiring decisions based on evidence, not buzzwords.</a:t>
            </a:r>
            <a:br/>
            <a:br/>
            <a:r>
              <a:t>Saw firsthand how resumes fail to reflect actual engineering ability. Built VibeHiring to replicate senior-engineer judgment at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A1A1AA"/>
                </a:solidFill>
                <a:latin typeface="Calibri"/>
              </a:rPr>
              <a:t>Builder focused on AI systems that interpret
real-world data, not keywords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A1A1AA"/>
                </a:solidFill>
                <a:latin typeface="Calibri"/>
              </a:rPr>
              <a:t>Experience designing agentic workflows
and evaluation pipelines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A1A1AA"/>
                </a:solidFill>
                <a:latin typeface="Calibri"/>
              </a:rPr>
              <a:t>Obsessed with improving signal quality
in technical hiring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  <a:latin typeface="Calibri"/>
              </a:defRPr>
            </a:pPr>
            <a:r>
              <a:t>Why 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A1A1AA"/>
                </a:solidFill>
                <a:latin typeface="Calibri"/>
              </a:rPr>
              <a:t>Saw firsthand how resumes fail to reflect
actual engineering ability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A1A1AA"/>
                </a:solidFill>
                <a:latin typeface="Calibri"/>
              </a:rPr>
              <a:t>Built VibeHiring to replicate senior-engineer
judgment at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6473952"/>
            <a:ext cx="2926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AFA"/>
                </a:solidFill>
                <a:latin typeface="Calibri"/>
              </a:rPr>
              <a:t>VH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Calibri"/>
              </a:defRPr>
            </a:pPr>
            <a:r>
              <a:t>VibeHiring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6455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vibe-hiring-eight.vercel.app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55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560320" cy="365760"/>
          </a:xfrm>
          <a:prstGeom prst="roundRect">
            <a:avLst/>
          </a:prstGeom>
          <a:solidFill>
            <a:srgbClr val="2A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⚠️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Calibri"/>
              </a:defRPr>
            </a:pPr>
            <a:r>
              <a:t>Tech hiring is noisy and inefficient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Recruiters review hundreds of resumes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ATS tools match keywords, not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No reliable way to evaluate real coding 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GitHub portfolios are ignored or manually reviewed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AI-generated code is rising — nobody measures authenticity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320040" cy="32004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Hiring decisions are opaque and hard to justify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5029200" cy="347472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4A2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THE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250+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resumes per open role</a:t>
            </a:r>
            <a:br/>
            <a:r>
              <a:t>on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23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avg recruiter time per hire</a:t>
            </a:r>
            <a:br/>
            <a:r>
              <a:t>on resume screening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46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of new hires are considered</a:t>
            </a:r>
            <a:br/>
            <a:r>
              <a:t>poor fits within 18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140A04"/>
          </a:solidFill>
          <a:ln w="12700">
            <a:solidFill>
              <a:srgbClr val="3A2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97316"/>
                </a:solidFill>
                <a:latin typeface="Calibri"/>
              </a:defRPr>
            </a:pPr>
            <a:r>
              <a:t>Result: Companies waste time, miss strong candidates, and hire with low confidence.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6473952"/>
            <a:ext cx="2926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AFA"/>
                </a:solidFill>
                <a:latin typeface="Calibri"/>
              </a:rPr>
              <a:t>VH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Calibri"/>
              </a:defRPr>
            </a:pPr>
            <a:r>
              <a:t>VibeHiring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6455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vibe-hiring-eight.vercel.app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55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743200" cy="365760"/>
          </a:xfrm>
          <a:prstGeom prst="roundRect">
            <a:avLst/>
          </a:prstGeom>
          <a:solidFill>
            <a:srgbClr val="0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C55E"/>
                </a:solidFill>
                <a:latin typeface="Calibri"/>
              </a:rPr>
              <a:t>🚀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VibeHiring: AI that evaluates like a senior engineer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20"/>
            <a:ext cx="365760" cy="365760"/>
          </a:xfrm>
          <a:prstGeom prst="roundRect">
            <a:avLst/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56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Multi-Format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Reads PDF, Word, scanned images.</a:t>
            </a:r>
            <a:br/>
            <a:r>
              <a:t>OCR fallback for anything unreadable.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874520"/>
            <a:ext cx="365760" cy="365760"/>
          </a:xfrm>
          <a:prstGeom prst="roundRect">
            <a:avLst/>
          </a:prstGeom>
          <a:solidFill>
            <a:srgbClr val="2F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856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Auto GitHub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Extracts GitHub URLs from PDF</a:t>
            </a:r>
            <a:br/>
            <a:r>
              <a:t>hyperlinks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9164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874520"/>
            <a:ext cx="365760" cy="365760"/>
          </a:xfrm>
          <a:prstGeom prst="roundRect">
            <a:avLst/>
          </a:prstGeom>
          <a:solidFill>
            <a:srgbClr val="2C2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56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Vibe Coding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Detects AI-generated vs human-written</a:t>
            </a:r>
            <a:br/>
            <a:r>
              <a:t>code from GitHub repositories.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365760" cy="365760"/>
          </a:xfrm>
          <a:prstGeom prst="roundRect">
            <a:avLst/>
          </a:prstGeom>
          <a:solidFill>
            <a:srgbClr val="180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6-Axis Radar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Technical, Experience, Education,</a:t>
            </a:r>
            <a:br/>
            <a:r>
              <a:t>Soft Skills, Culture Fit, Growth.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0040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3383280"/>
            <a:ext cx="365760" cy="365760"/>
          </a:xfrm>
          <a:prstGeom prst="roundRect">
            <a:avLst/>
          </a:prstGeom>
          <a:solidFill>
            <a:srgbClr val="31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Explainable Rankings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"Why This Rank?" narrative for</a:t>
            </a:r>
            <a:br/>
            <a:r>
              <a:t>every candidate. No black boxes.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200400"/>
            <a:ext cx="3566160" cy="1325880"/>
          </a:xfrm>
          <a:prstGeom prst="roundRect">
            <a:avLst/>
          </a:prstGeom>
          <a:solidFill>
            <a:srgbClr val="181820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3383280"/>
            <a:ext cx="365760" cy="365760"/>
          </a:xfrm>
          <a:prstGeom prst="roundRect">
            <a:avLst/>
          </a:prstGeom>
          <a:solidFill>
            <a:srgbClr val="10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Calibri"/>
              </a:defRPr>
            </a:pPr>
            <a:r>
              <a:t>Bulk CSV 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Upload hundreds of candidates.</a:t>
            </a:r>
            <a:br/>
            <a:r>
              <a:t>Full AI analysis per row.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46320"/>
            <a:ext cx="5486400" cy="1097280"/>
          </a:xfrm>
          <a:prstGeom prst="roundRect">
            <a:avLst/>
          </a:prstGeom>
          <a:solidFill>
            <a:srgbClr val="140E26"/>
          </a:solidFill>
          <a:ln w="12700">
            <a:solidFill>
              <a:srgbClr val="3F2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⚙️  CORE INNOVATION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Calibri"/>
              </a:defRPr>
            </a:pPr>
            <a:r>
              <a:t>Agentic AI that decides what evidence to gather</a:t>
            </a:r>
            <a:br/>
            <a:r>
              <a:t>before evaluating a candidate. Dual-model system:</a:t>
            </a:r>
            <a:br/>
            <a:r>
              <a:t>Gemini 2.5 Flash (agent) + Gemini 2.5 Pro (evaluator).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846320"/>
            <a:ext cx="5029200" cy="1097280"/>
          </a:xfrm>
          <a:prstGeom prst="roundRect">
            <a:avLst/>
          </a:prstGeom>
          <a:solidFill>
            <a:srgbClr val="0A1A10"/>
          </a:solidFill>
          <a:ln w="12700">
            <a:solidFill>
              <a:srgbClr val="15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✅ 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Better hiring decisions. Faster screening.</a:t>
            </a:r>
            <a:br/>
            <a:r>
              <a:t>Defensible rankings. Evidence over intuition.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6473952"/>
            <a:ext cx="2926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AFA"/>
                </a:solidFill>
                <a:latin typeface="Calibri"/>
              </a:rPr>
              <a:t>VH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55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Calibri"/>
              </a:defRPr>
            </a:pPr>
            <a:r>
              <a:t>VibeHiring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6455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vibe-hiring-eight.vercel.app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55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560320" cy="365760"/>
          </a:xfrm>
          <a:prstGeom prst="round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82F6"/>
                </a:solidFill>
                <a:latin typeface="Calibri"/>
              </a:rPr>
              <a:t>🧩  TEAM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Calibri"/>
              </a:defRPr>
            </a:pPr>
            <a:r>
              <a:t>To scale VibeHiring,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029200" cy="320040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029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FAFA"/>
                </a:solidFill>
                <a:latin typeface="Calibri"/>
              </a:defRPr>
            </a:pPr>
            <a:r>
              <a:t>⚙️  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26080"/>
            <a:ext cx="4297680" cy="960120"/>
          </a:xfrm>
          <a:prstGeom prst="roundRect">
            <a:avLst/>
          </a:prstGeom>
          <a:solidFill>
            <a:srgbClr val="140E26"/>
          </a:solidFill>
          <a:ln w="9525">
            <a:solidFill>
              <a:srgbClr val="3F2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ML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Code analysis models, evaluation pipelines,</a:t>
            </a:r>
            <a:br/>
            <a:r>
              <a:t>vibe coding detection improvements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114800"/>
            <a:ext cx="4297680" cy="960120"/>
          </a:xfrm>
          <a:prstGeom prst="roundRect">
            <a:avLst/>
          </a:prstGeom>
          <a:solidFill>
            <a:srgbClr val="0A141E"/>
          </a:solidFill>
          <a:ln w="9525">
            <a:solidFill>
              <a:srgbClr val="1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Full-Stack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Platform scaling, integrations, ATS connectors,</a:t>
            </a:r>
            <a:br/>
            <a:r>
              <a:t>real-time collaboration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5029200" cy="3200400"/>
          </a:xfrm>
          <a:prstGeom prst="roundRect">
            <a:avLst/>
          </a:prstGeom>
          <a:solidFill>
            <a:srgbClr val="181820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5029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FAFA"/>
                </a:solidFill>
                <a:latin typeface="Calibri"/>
              </a:defRPr>
            </a:pPr>
            <a:r>
              <a:t>💼  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926080"/>
            <a:ext cx="4297680" cy="960120"/>
          </a:xfrm>
          <a:prstGeom prst="roundRect">
            <a:avLst/>
          </a:prstGeom>
          <a:solidFill>
            <a:srgbClr val="0A1A10"/>
          </a:solidFill>
          <a:ln w="9525">
            <a:solidFill>
              <a:srgbClr val="15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971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B2B SaaS Growth / Sales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91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Go-to-market strategy, enterprise sales,</a:t>
            </a:r>
            <a:br/>
            <a:r>
              <a:t>recruiting agency partnerships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114800"/>
            <a:ext cx="4297680" cy="960120"/>
          </a:xfrm>
          <a:prstGeom prst="roundRect">
            <a:avLst/>
          </a:prstGeom>
          <a:solidFill>
            <a:srgbClr val="1A1408"/>
          </a:solidFill>
          <a:ln w="9525">
            <a:solidFill>
              <a:srgbClr val="4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Industry Advisor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80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Recruiting or ATS industry experience,</a:t>
            </a:r>
            <a:br/>
            <a:r>
              <a:t>network access, strategic guidance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77840"/>
            <a:ext cx="10972800" cy="7315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3F2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Calibri"/>
              </a:rPr>
              <a:t>GOAL:  </a:t>
            </a:r>
            <a:r>
              <a:rPr sz="1600" b="1">
                <a:solidFill>
                  <a:srgbClr val="FAFAFA"/>
                </a:solidFill>
                <a:latin typeface="Calibri"/>
              </a:rPr>
              <a:t>Build the standard evaluation layer for technical hiring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0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6473952"/>
            <a:ext cx="2926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AFAFA"/>
                </a:solidFill>
                <a:latin typeface="Calibri"/>
              </a:rPr>
              <a:t>VH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55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Calibri"/>
              </a:defRPr>
            </a:pPr>
            <a:r>
              <a:t>VibeHiring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455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vibe-hiring-eight.vercel.app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55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